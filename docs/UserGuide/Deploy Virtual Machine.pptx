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3" r:id="rId3"/>
    <p:sldId id="263" r:id="rId4"/>
    <p:sldId id="262" r:id="rId5"/>
    <p:sldId id="264" r:id="rId6"/>
    <p:sldId id="268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58" r:id="rId2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ucek, Sebastian" initials="PS" lastIdx="1" clrIdx="0">
    <p:extLst>
      <p:ext uri="{19B8F6BF-5375-455C-9EA6-DF929625EA0E}">
        <p15:presenceInfo xmlns:p15="http://schemas.microsoft.com/office/powerpoint/2012/main" userId="S::sebastian.pucek@atos.net::40d0fc3d-c8c5-4cb4-a9fc-0727e3f029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>
      <p:cViewPr varScale="1">
        <p:scale>
          <a:sx n="156" d="100"/>
          <a:sy n="156" d="100"/>
        </p:scale>
        <p:origin x="168" y="2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48" d="100"/>
          <a:sy n="148" d="100"/>
        </p:scale>
        <p:origin x="2520" y="-14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AddNotifier#2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7951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91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AddNotifier#3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3188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269BF997-9B5F-4A82-AF31-6E87F25749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4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5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5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0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7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7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093DCF-B2CE-437E-84DF-CE8486889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AddClassification"/>
          <p:cNvSpPr txBox="1">
            <a:spLocks noChangeArrowheads="1"/>
          </p:cNvSpPr>
          <p:nvPr userDrawn="1"/>
        </p:nvSpPr>
        <p:spPr bwMode="auto">
          <a:xfrm>
            <a:off x="3830451" y="4652161"/>
            <a:ext cx="148309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8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© Atos - For internal use</a:t>
            </a:r>
            <a:endParaRPr lang="en-US" sz="8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25" y="4737600"/>
            <a:ext cx="1635224" cy="86075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42A67D0E-7482-4A6A-9596-65138D418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153" y="1487559"/>
            <a:ext cx="8370094" cy="2168382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lnSpc>
                <a:spcPts val="5625"/>
              </a:lnSpc>
              <a:defRPr sz="4800" b="0" i="0" baseline="0">
                <a:solidFill>
                  <a:schemeClr val="bg1"/>
                </a:solidFill>
                <a:latin typeface="+mj-lt"/>
                <a:ea typeface="Stag Sans Light" charset="0"/>
                <a:cs typeface="Stag Sans Light" charset="0"/>
              </a:defRPr>
            </a:lvl1pPr>
          </a:lstStyle>
          <a:p>
            <a:r>
              <a:rPr lang="en-US" dirty="0"/>
              <a:t>This is</a:t>
            </a:r>
            <a:br>
              <a:rPr lang="en-US" dirty="0"/>
            </a:br>
            <a:r>
              <a:rPr lang="en-US" dirty="0"/>
              <a:t>the title</a:t>
            </a:r>
            <a:br>
              <a:rPr lang="en-US" dirty="0"/>
            </a:br>
            <a:r>
              <a:rPr lang="en-US" dirty="0"/>
              <a:t>of this PPT</a:t>
            </a:r>
          </a:p>
        </p:txBody>
      </p:sp>
      <p:sp>
        <p:nvSpPr>
          <p:cNvPr id="8" name="AddCustomDate#1"/>
          <p:cNvSpPr txBox="1"/>
          <p:nvPr userDrawn="1"/>
        </p:nvSpPr>
        <p:spPr>
          <a:xfrm>
            <a:off x="251520" y="4037848"/>
            <a:ext cx="1178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2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dd-mm-yyyy</a:t>
            </a:r>
            <a:endParaRPr lang="nl-NL" sz="12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03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" y="1559341"/>
            <a:ext cx="9166852" cy="20248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First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50724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0300" y="1150978"/>
            <a:ext cx="8748000" cy="3474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329209" y="944932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0782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No 2nd top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6488" y="843558"/>
            <a:ext cx="8748000" cy="3723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2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2" y="1534505"/>
            <a:ext cx="9192464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1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939"/>
            <a:ext cx="9180512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2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9341"/>
            <a:ext cx="9180512" cy="20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0512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8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3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72" y="1560265"/>
            <a:ext cx="9197784" cy="20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2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05"/>
            <a:ext cx="9186488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769"/>
            <a:ext cx="9186488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6488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9509"/>
            <a:ext cx="9204416" cy="20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769"/>
            <a:ext cx="9204416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939"/>
            <a:ext cx="9204416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04048" y="1995686"/>
            <a:ext cx="403244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0381"/>
            <a:ext cx="9204416" cy="20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E1C74D-134F-4EB2-9532-ED3805FDC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15778" y="1203598"/>
            <a:ext cx="6516462" cy="110251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4800" b="0" baseline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 dirty="0"/>
              <a:t>Click to edit the title</a:t>
            </a:r>
          </a:p>
        </p:txBody>
      </p:sp>
      <p:sp>
        <p:nvSpPr>
          <p:cNvPr id="7" name="AddNotifier#1"/>
          <p:cNvSpPr txBox="1">
            <a:spLocks noChangeArrowheads="1"/>
          </p:cNvSpPr>
          <p:nvPr userDrawn="1"/>
        </p:nvSpPr>
        <p:spPr bwMode="auto">
          <a:xfrm>
            <a:off x="234015" y="4208250"/>
            <a:ext cx="3689913" cy="6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600" kern="1200">
                <a:solidFill>
                  <a:schemeClr val="bg1">
                    <a:lumMod val="8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0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AddCustomFooter#1"/>
          <p:cNvSpPr txBox="1"/>
          <p:nvPr userDrawn="1"/>
        </p:nvSpPr>
        <p:spPr>
          <a:xfrm>
            <a:off x="236700" y="4729862"/>
            <a:ext cx="3243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aseline="0">
                <a:latin typeface="Verdana" pitchFamily="34" charset="0"/>
                <a:ea typeface="Verdana" pitchFamily="34" charset="0"/>
                <a:cs typeface="Verdana" pitchFamily="34" charset="0"/>
              </a:rPr>
              <a:t>       | dd-mm-yyyy | © Atos - For internal use </a:t>
            </a:r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216488" y="1090800"/>
            <a:ext cx="8748000" cy="3474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567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99818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3" r:id="rId3"/>
    <p:sldLayoutId id="2147483654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55" r:id="rId2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270000" indent="-270000" algn="l" defTabSz="914400" rtl="0" eaLnBrk="1" latinLnBrk="0" hangingPunct="1">
        <a:spcBef>
          <a:spcPct val="20000"/>
        </a:spcBef>
        <a:buClr>
          <a:schemeClr val="tx2"/>
        </a:buClr>
        <a:buFont typeface="Lucida Sans Unicode" pitchFamily="34" charset="0"/>
        <a:buChar char="▶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40000" indent="-270000" algn="l" defTabSz="914400" rtl="0" eaLnBrk="1" latinLnBrk="0" hangingPunct="1">
        <a:spcBef>
          <a:spcPts val="384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1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08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5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953" y="1962150"/>
            <a:ext cx="8370094" cy="718145"/>
          </a:xfrm>
        </p:spPr>
        <p:txBody>
          <a:bodyPr/>
          <a:lstStyle/>
          <a:p>
            <a:pPr algn="ctr"/>
            <a:r>
              <a:rPr lang="en-US" dirty="0"/>
              <a:t>Deploy Virtual Machine</a:t>
            </a:r>
          </a:p>
        </p:txBody>
      </p:sp>
    </p:spTree>
    <p:extLst>
      <p:ext uri="{BB962C8B-B14F-4D97-AF65-F5344CB8AC3E}">
        <p14:creationId xmlns:p14="http://schemas.microsoft.com/office/powerpoint/2010/main" val="25228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E7E60-28C7-49B4-93C6-8F524E92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/>
              <a:t>All configuration</a:t>
            </a:r>
            <a:r>
              <a:rPr lang="pl-PL" sz="3200" dirty="0"/>
              <a:t> options</a:t>
            </a:r>
            <a:r>
              <a:rPr lang="en-US" sz="3200" dirty="0"/>
              <a:t> and settings visible in this presentation can be different than you</a:t>
            </a:r>
            <a:r>
              <a:rPr lang="pl-PL" sz="3200" dirty="0" err="1"/>
              <a:t>rs</a:t>
            </a:r>
            <a:r>
              <a:rPr lang="en-US" sz="3200" dirty="0"/>
              <a:t>. It </a:t>
            </a:r>
            <a:r>
              <a:rPr lang="pl-PL" sz="3200" dirty="0"/>
              <a:t>depends </a:t>
            </a:r>
            <a:r>
              <a:rPr lang="en-US" sz="3200" dirty="0"/>
              <a:t>on you</a:t>
            </a:r>
            <a:r>
              <a:rPr lang="pl-PL" sz="3200" dirty="0"/>
              <a:t>r</a:t>
            </a:r>
            <a:r>
              <a:rPr lang="en-US" sz="3200" dirty="0"/>
              <a:t> privileges, settings and agreement.</a:t>
            </a:r>
          </a:p>
        </p:txBody>
      </p:sp>
    </p:spTree>
    <p:extLst>
      <p:ext uri="{BB962C8B-B14F-4D97-AF65-F5344CB8AC3E}">
        <p14:creationId xmlns:p14="http://schemas.microsoft.com/office/powerpoint/2010/main" val="237232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0" y="1995686"/>
            <a:ext cx="5628456" cy="1080120"/>
          </a:xfrm>
        </p:spPr>
        <p:txBody>
          <a:bodyPr/>
          <a:lstStyle/>
          <a:p>
            <a:r>
              <a:rPr lang="en-US" dirty="0"/>
              <a:t>Log in to VM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74082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email address previously added to VMware Cloud Services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000911-B787-485D-B76D-703C1490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1550"/>
            <a:ext cx="3553502" cy="357915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26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password for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12013A-7E1C-42DD-A7A4-754BDB2F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0" y="971552"/>
            <a:ext cx="3273550" cy="35452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4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machine using Service Broker</a:t>
            </a:r>
          </a:p>
        </p:txBody>
      </p:sp>
    </p:spTree>
    <p:extLst>
      <p:ext uri="{BB962C8B-B14F-4D97-AF65-F5344CB8AC3E}">
        <p14:creationId xmlns:p14="http://schemas.microsoft.com/office/powerpoint/2010/main" val="200539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Section “My Services” find a block with </a:t>
            </a:r>
            <a:r>
              <a:rPr lang="pl-PL" dirty="0"/>
              <a:t>the </a:t>
            </a:r>
            <a:r>
              <a:rPr lang="en-US" dirty="0"/>
              <a:t>title “</a:t>
            </a:r>
            <a:r>
              <a:rPr lang="en-US" dirty="0" err="1"/>
              <a:t>Vmware</a:t>
            </a:r>
            <a:r>
              <a:rPr lang="en-US" dirty="0"/>
              <a:t> Service Broker” – click on </a:t>
            </a:r>
            <a:r>
              <a:rPr lang="pl-PL" dirty="0" err="1"/>
              <a:t>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look of this page is up to your privileges and roles which are assigned </a:t>
            </a:r>
            <a:r>
              <a:rPr lang="pl-PL" dirty="0"/>
              <a:t>to </a:t>
            </a:r>
            <a:r>
              <a:rPr lang="en-US" dirty="0"/>
              <a:t>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7</a:t>
            </a:fld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AED5A-1FEE-4536-BDC0-EB225923B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09" y="971550"/>
            <a:ext cx="3527791" cy="356009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3048002" y="2161049"/>
            <a:ext cx="1295398" cy="867901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58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551C2-A504-4547-B566-CD624D7E4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8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ABC7B-FD56-4790-894A-D1C204181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1551"/>
            <a:ext cx="8534400" cy="365760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98F9C7B-A7B9-4B38-B51B-57CC58D4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pPr algn="just"/>
            <a:r>
              <a:rPr lang="en-US" dirty="0"/>
              <a:t>Example view – the number of items depends on permissions and roles</a:t>
            </a:r>
          </a:p>
        </p:txBody>
      </p:sp>
    </p:spTree>
    <p:extLst>
      <p:ext uri="{BB962C8B-B14F-4D97-AF65-F5344CB8AC3E}">
        <p14:creationId xmlns:p14="http://schemas.microsoft.com/office/powerpoint/2010/main" val="18687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5C728-AB4D-494D-93EB-6B541969A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A7737-7AC6-4991-A83E-0A928F4C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74" y="963240"/>
            <a:ext cx="3945126" cy="362077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8DD1EE-C5A9-4B32-9998-0F615F88C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0" y="2363415"/>
            <a:ext cx="4644900" cy="5893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item which allow</a:t>
            </a:r>
            <a:r>
              <a:rPr lang="pl-PL" dirty="0"/>
              <a:t>s</a:t>
            </a:r>
            <a:r>
              <a:rPr lang="en-US" dirty="0"/>
              <a:t> you to deploy single virtual machine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C63CBF-4D97-4E38-88C4-A577BEA7B05D}"/>
              </a:ext>
            </a:extLst>
          </p:cNvPr>
          <p:cNvCxnSpPr>
            <a:cxnSpLocks/>
          </p:cNvCxnSpPr>
          <p:nvPr/>
        </p:nvCxnSpPr>
        <p:spPr>
          <a:xfrm flipH="1">
            <a:off x="4114800" y="2952750"/>
            <a:ext cx="4495801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057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16B74-E97C-40AD-9E3E-FDE187326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505200" cy="359442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deployment name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name will be visible in “Deployments” section. The name allow</a:t>
            </a:r>
            <a:r>
              <a:rPr lang="pl-PL" dirty="0"/>
              <a:t>s</a:t>
            </a:r>
            <a:r>
              <a:rPr lang="en-US" dirty="0"/>
              <a:t> you to identify your VM.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895600" y="1885950"/>
            <a:ext cx="1165592" cy="13716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</p:spTree>
    <p:extLst>
      <p:ext uri="{BB962C8B-B14F-4D97-AF65-F5344CB8AC3E}">
        <p14:creationId xmlns:p14="http://schemas.microsoft.com/office/powerpoint/2010/main" val="83281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the 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From default, project will be chosen if your account is assigned to one project. If you have privileges to more </a:t>
            </a:r>
            <a:r>
              <a:rPr lang="pl-PL" dirty="0"/>
              <a:t>than one </a:t>
            </a:r>
            <a:r>
              <a:rPr lang="en-US" dirty="0"/>
              <a:t>project, </a:t>
            </a:r>
            <a:r>
              <a:rPr lang="pl-PL" dirty="0"/>
              <a:t>the </a:t>
            </a:r>
            <a:r>
              <a:rPr lang="en-US" dirty="0"/>
              <a:t>first project from </a:t>
            </a:r>
            <a:r>
              <a:rPr lang="pl-PL" dirty="0"/>
              <a:t>the </a:t>
            </a:r>
            <a:r>
              <a:rPr lang="en-US" dirty="0"/>
              <a:t>top will be chosen.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868A13-A21F-4CC9-B398-08D1C9C9D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71550"/>
            <a:ext cx="3260768" cy="3581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895600" y="1885950"/>
            <a:ext cx="1165592" cy="14478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372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machine prefix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Machine prefix is a part of </a:t>
            </a:r>
            <a:r>
              <a:rPr lang="pl-PL" dirty="0"/>
              <a:t>the </a:t>
            </a:r>
            <a:r>
              <a:rPr lang="en-US" dirty="0"/>
              <a:t>whole name of machine. The numbers of the position to choose depend on project setting.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72453-29F3-4103-A753-7F0656C9B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50" y="971550"/>
            <a:ext cx="3062050" cy="36144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895600" y="1885950"/>
            <a:ext cx="1165592" cy="17526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22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3215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Flavor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Flavor describe</a:t>
            </a:r>
            <a:r>
              <a:rPr lang="pl-PL" dirty="0"/>
              <a:t>s</a:t>
            </a:r>
            <a:r>
              <a:rPr lang="en-US" dirty="0"/>
              <a:t> </a:t>
            </a:r>
            <a:r>
              <a:rPr lang="en-US" dirty="0" err="1"/>
              <a:t>wh</a:t>
            </a:r>
            <a:r>
              <a:rPr lang="pl-PL" dirty="0"/>
              <a:t>ich</a:t>
            </a:r>
            <a:r>
              <a:rPr lang="en-US" dirty="0"/>
              <a:t> resources will be assigned to the machine.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 err="1"/>
              <a:t>XSmall</a:t>
            </a:r>
            <a:r>
              <a:rPr lang="en-US" dirty="0"/>
              <a:t> will </a:t>
            </a:r>
            <a:r>
              <a:rPr lang="pl-PL" dirty="0"/>
              <a:t>be </a:t>
            </a:r>
            <a:r>
              <a:rPr lang="en-US" dirty="0"/>
              <a:t>assigned to machine 1vCPU and 2048MB memory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9CA826-17E0-4711-9485-A76B7D5D6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6" y="971550"/>
            <a:ext cx="3481917" cy="3581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895600" y="1885950"/>
            <a:ext cx="1165592" cy="18288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66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14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3215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Image template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section contains information about available templates and operating systems which you can deploy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9773C9-9FCA-48B7-9076-A9DC4229E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124200" cy="35731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895600" y="1885950"/>
            <a:ext cx="1165592" cy="18288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03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15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3215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Network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In this section you can choose </a:t>
            </a:r>
            <a:r>
              <a:rPr lang="pl-PL" dirty="0"/>
              <a:t>a </a:t>
            </a:r>
            <a:r>
              <a:rPr lang="en-US" dirty="0"/>
              <a:t>specific kind of network which will be connected to your virtual machine. 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C52B8-0ED6-4C4E-BEB7-ACC746DE0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89" y="1047749"/>
            <a:ext cx="3160111" cy="352741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895600" y="1885950"/>
            <a:ext cx="1165592" cy="19050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368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16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3215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Cluster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section allow you to choose the vCenter which will </a:t>
            </a:r>
            <a:r>
              <a:rPr lang="en-US" dirty="0" err="1"/>
              <a:t>stor</a:t>
            </a:r>
            <a:r>
              <a:rPr lang="pl-PL" dirty="0"/>
              <a:t>e</a:t>
            </a:r>
            <a:r>
              <a:rPr lang="en-US" dirty="0"/>
              <a:t> your VM.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CBB3E8-C364-4A9C-B91A-D41715D2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59" y="971550"/>
            <a:ext cx="3225203" cy="3581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895600" y="1885950"/>
            <a:ext cx="1165592" cy="19050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377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7B6399-F838-4B29-B254-994F4B08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971550"/>
            <a:ext cx="3800475" cy="362941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17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700" y="1337137"/>
            <a:ext cx="4644900" cy="3215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Storage class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section allow</a:t>
            </a:r>
            <a:r>
              <a:rPr lang="pl-PL" dirty="0"/>
              <a:t>s</a:t>
            </a:r>
            <a:r>
              <a:rPr lang="en-US" dirty="0"/>
              <a:t> you to choose what kind of storage can be used to </a:t>
            </a:r>
            <a:r>
              <a:rPr lang="en-US" dirty="0" err="1"/>
              <a:t>stor</a:t>
            </a:r>
            <a:r>
              <a:rPr lang="pl-PL" dirty="0"/>
              <a:t>e</a:t>
            </a:r>
            <a:r>
              <a:rPr lang="en-US" dirty="0"/>
              <a:t> your machine.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Gold – all VM will be </a:t>
            </a:r>
            <a:r>
              <a:rPr lang="en-US" dirty="0" err="1"/>
              <a:t>stor</a:t>
            </a:r>
            <a:r>
              <a:rPr lang="pl-PL" dirty="0" err="1"/>
              <a:t>ed</a:t>
            </a:r>
            <a:r>
              <a:rPr lang="en-US" dirty="0"/>
              <a:t> on </a:t>
            </a:r>
            <a:r>
              <a:rPr lang="pl-PL" dirty="0"/>
              <a:t>a </a:t>
            </a:r>
            <a:r>
              <a:rPr lang="en-US" dirty="0"/>
              <a:t>flash disk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3429000" y="1657350"/>
            <a:ext cx="1143000" cy="9144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284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7B6399-F838-4B29-B254-994F4B08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971550"/>
            <a:ext cx="3800475" cy="362941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18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700" y="1337137"/>
            <a:ext cx="4644900" cy="3215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Checked Create local account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checkbox from default is checked. It allow</a:t>
            </a:r>
            <a:r>
              <a:rPr lang="pl-PL" dirty="0"/>
              <a:t>s</a:t>
            </a:r>
            <a:r>
              <a:rPr lang="en-US" dirty="0"/>
              <a:t> you to create a local user and define </a:t>
            </a:r>
            <a:r>
              <a:rPr lang="pl-PL" dirty="0"/>
              <a:t>a </a:t>
            </a:r>
            <a:r>
              <a:rPr lang="en-US" dirty="0"/>
              <a:t>password for them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2209800" y="1657350"/>
            <a:ext cx="2362200" cy="19812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854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19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0D17-74AC-42A4-ACE9-9A67A2E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700" y="1337137"/>
            <a:ext cx="4644900" cy="3215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</a:t>
            </a:r>
            <a:r>
              <a:rPr lang="pl-PL" dirty="0"/>
              <a:t>the </a:t>
            </a:r>
            <a:r>
              <a:rPr lang="en-US" dirty="0"/>
              <a:t>local account and define </a:t>
            </a:r>
            <a:r>
              <a:rPr lang="pl-PL" dirty="0"/>
              <a:t>the </a:t>
            </a:r>
            <a:r>
              <a:rPr lang="en-US" dirty="0"/>
              <a:t>password for the account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From this place you can define only one local user.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provide all necessary data and you are sure they are correct click SUBMIT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1599EC8-417E-4412-9D7A-856D997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720080"/>
          </a:xfrm>
        </p:spPr>
        <p:txBody>
          <a:bodyPr/>
          <a:lstStyle/>
          <a:p>
            <a:r>
              <a:rPr lang="en-US" dirty="0"/>
              <a:t>In tab General you will provide necessary data which allow you to deploy machine.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4B7917-A1B5-4BC4-AEF3-A3E9018FD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32" y="971550"/>
            <a:ext cx="3273568" cy="362475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3AA4B-DDB6-464A-BF3F-6E53E08A5EC3}"/>
              </a:ext>
            </a:extLst>
          </p:cNvPr>
          <p:cNvCxnSpPr>
            <a:cxnSpLocks/>
          </p:cNvCxnSpPr>
          <p:nvPr/>
        </p:nvCxnSpPr>
        <p:spPr>
          <a:xfrm flipH="1">
            <a:off x="1981200" y="1962150"/>
            <a:ext cx="2286000" cy="12954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A1DDE1-F39A-493A-B72B-6AEB0F094845}"/>
              </a:ext>
            </a:extLst>
          </p:cNvPr>
          <p:cNvCxnSpPr>
            <a:cxnSpLocks/>
          </p:cNvCxnSpPr>
          <p:nvPr/>
        </p:nvCxnSpPr>
        <p:spPr>
          <a:xfrm flipH="1">
            <a:off x="1981200" y="1962150"/>
            <a:ext cx="2286000" cy="17526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E7C4A0-E9BF-49D3-B74C-0ED84D3F241D}"/>
              </a:ext>
            </a:extLst>
          </p:cNvPr>
          <p:cNvCxnSpPr>
            <a:cxnSpLocks/>
          </p:cNvCxnSpPr>
          <p:nvPr/>
        </p:nvCxnSpPr>
        <p:spPr>
          <a:xfrm flipH="1">
            <a:off x="917432" y="3562350"/>
            <a:ext cx="3273568" cy="9144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96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79D1FA-056C-4A60-8D68-D91B05B1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0F9B71-E966-41C1-B5BF-3198664BAC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745038"/>
            <a:ext cx="444500" cy="215900"/>
          </a:xfrm>
        </p:spPr>
        <p:txBody>
          <a:bodyPr/>
          <a:lstStyle/>
          <a:p>
            <a:fld id="{DAF489CC-3B7A-4DA5-A8C0-4984788D0EC5}" type="slidenum">
              <a:rPr lang="nl-NL" smtClean="0"/>
              <a:pPr/>
              <a:t>20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9522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21</a:t>
            </a:fld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FCDBD6-A85C-415E-BD77-E45EFAC68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3779"/>
            <a:ext cx="9144000" cy="1235942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E695C99-0BB0-4506-B782-9E8B2C0C5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510895"/>
            <a:ext cx="2209800" cy="4089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Deployment Name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7B4D10-65B2-4DEB-8248-B37534DBA46D}"/>
              </a:ext>
            </a:extLst>
          </p:cNvPr>
          <p:cNvCxnSpPr>
            <a:cxnSpLocks/>
          </p:cNvCxnSpPr>
          <p:nvPr/>
        </p:nvCxnSpPr>
        <p:spPr>
          <a:xfrm>
            <a:off x="609600" y="1885950"/>
            <a:ext cx="0" cy="81915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CD9B5-6A4B-447D-867E-E24C0B470960}"/>
              </a:ext>
            </a:extLst>
          </p:cNvPr>
          <p:cNvCxnSpPr>
            <a:cxnSpLocks/>
          </p:cNvCxnSpPr>
          <p:nvPr/>
        </p:nvCxnSpPr>
        <p:spPr>
          <a:xfrm flipH="1">
            <a:off x="3276600" y="1885950"/>
            <a:ext cx="4543425" cy="81915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4C8FBBE-27AB-41BB-B073-058F95BD2064}"/>
              </a:ext>
            </a:extLst>
          </p:cNvPr>
          <p:cNvSpPr txBox="1">
            <a:spLocks/>
          </p:cNvSpPr>
          <p:nvPr/>
        </p:nvSpPr>
        <p:spPr>
          <a:xfrm>
            <a:off x="6562725" y="1553180"/>
            <a:ext cx="2514600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Status of deployment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F1C68E-3EBC-4367-8135-8017DE5846FE}"/>
              </a:ext>
            </a:extLst>
          </p:cNvPr>
          <p:cNvSpPr txBox="1">
            <a:spLocks/>
          </p:cNvSpPr>
          <p:nvPr/>
        </p:nvSpPr>
        <p:spPr>
          <a:xfrm>
            <a:off x="2886074" y="1560338"/>
            <a:ext cx="2828895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Deployment Description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F45FDB-53F7-450A-84B0-615E8E2A77B0}"/>
              </a:ext>
            </a:extLst>
          </p:cNvPr>
          <p:cNvCxnSpPr>
            <a:cxnSpLocks/>
          </p:cNvCxnSpPr>
          <p:nvPr/>
        </p:nvCxnSpPr>
        <p:spPr>
          <a:xfrm flipH="1">
            <a:off x="1524000" y="1885950"/>
            <a:ext cx="2743200" cy="9144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588C965-EFD7-4AEC-A491-9594C3AEFC8D}"/>
              </a:ext>
            </a:extLst>
          </p:cNvPr>
          <p:cNvSpPr txBox="1">
            <a:spLocks/>
          </p:cNvSpPr>
          <p:nvPr/>
        </p:nvSpPr>
        <p:spPr>
          <a:xfrm>
            <a:off x="533400" y="3474745"/>
            <a:ext cx="2209800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Project name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853434-BEF7-4A29-9F94-D45AC2DE6AD5}"/>
              </a:ext>
            </a:extLst>
          </p:cNvPr>
          <p:cNvCxnSpPr>
            <a:cxnSpLocks/>
          </p:cNvCxnSpPr>
          <p:nvPr/>
        </p:nvCxnSpPr>
        <p:spPr>
          <a:xfrm flipV="1">
            <a:off x="533400" y="2952750"/>
            <a:ext cx="0" cy="79561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B2767E6-E420-4967-AB38-12118F00B5E2}"/>
              </a:ext>
            </a:extLst>
          </p:cNvPr>
          <p:cNvSpPr txBox="1">
            <a:spLocks/>
          </p:cNvSpPr>
          <p:nvPr/>
        </p:nvSpPr>
        <p:spPr>
          <a:xfrm>
            <a:off x="2628900" y="3474745"/>
            <a:ext cx="2209800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Requestor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2BA456C-1AFD-4AF9-8B12-05C2669A7A84}"/>
              </a:ext>
            </a:extLst>
          </p:cNvPr>
          <p:cNvCxnSpPr>
            <a:cxnSpLocks/>
          </p:cNvCxnSpPr>
          <p:nvPr/>
        </p:nvCxnSpPr>
        <p:spPr>
          <a:xfrm flipH="1" flipV="1">
            <a:off x="1638301" y="3080155"/>
            <a:ext cx="990599" cy="668205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190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2069-F3FE-437C-9390-F9FA63D05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22</a:t>
            </a:fld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B72ED4-275E-4F0E-9117-D7FCABE88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5543"/>
            <a:ext cx="9144000" cy="371241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58E98F-6F77-4DCC-90CB-D84C943FD3D6}"/>
              </a:ext>
            </a:extLst>
          </p:cNvPr>
          <p:cNvCxnSpPr>
            <a:cxnSpLocks/>
          </p:cNvCxnSpPr>
          <p:nvPr/>
        </p:nvCxnSpPr>
        <p:spPr>
          <a:xfrm>
            <a:off x="7849170" y="527184"/>
            <a:ext cx="304230" cy="977766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61887A-1A3A-4C41-8037-90775B053D75}"/>
              </a:ext>
            </a:extLst>
          </p:cNvPr>
          <p:cNvCxnSpPr>
            <a:cxnSpLocks/>
          </p:cNvCxnSpPr>
          <p:nvPr/>
        </p:nvCxnSpPr>
        <p:spPr>
          <a:xfrm>
            <a:off x="7849170" y="527184"/>
            <a:ext cx="75630" cy="2273166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8A71641-3A8B-485F-B5F3-2807781E1F18}"/>
              </a:ext>
            </a:extLst>
          </p:cNvPr>
          <p:cNvSpPr txBox="1">
            <a:spLocks/>
          </p:cNvSpPr>
          <p:nvPr/>
        </p:nvSpPr>
        <p:spPr>
          <a:xfrm>
            <a:off x="6591869" y="194414"/>
            <a:ext cx="2514600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Settings summary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9B7209-64A5-46FA-B583-0268099AFD7D}"/>
              </a:ext>
            </a:extLst>
          </p:cNvPr>
          <p:cNvCxnSpPr>
            <a:cxnSpLocks/>
          </p:cNvCxnSpPr>
          <p:nvPr/>
        </p:nvCxnSpPr>
        <p:spPr>
          <a:xfrm>
            <a:off x="1313030" y="639343"/>
            <a:ext cx="1430170" cy="1703807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4D4058B-820A-4390-BA8E-29ED364A4BFA}"/>
              </a:ext>
            </a:extLst>
          </p:cNvPr>
          <p:cNvSpPr txBox="1">
            <a:spLocks/>
          </p:cNvSpPr>
          <p:nvPr/>
        </p:nvSpPr>
        <p:spPr>
          <a:xfrm>
            <a:off x="55729" y="306573"/>
            <a:ext cx="2514600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Topology of VM</a:t>
            </a:r>
          </a:p>
        </p:txBody>
      </p:sp>
    </p:spTree>
    <p:extLst>
      <p:ext uri="{BB962C8B-B14F-4D97-AF65-F5344CB8AC3E}">
        <p14:creationId xmlns:p14="http://schemas.microsoft.com/office/powerpoint/2010/main" val="574193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A70F5-94FC-4DC0-B3BD-3AA0ACAD9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23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3C004-D9A6-449F-9645-19156F128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971550"/>
            <a:ext cx="3963626" cy="3581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C44955-D0E9-41FB-A09D-E814F578B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0218"/>
            <a:ext cx="3429000" cy="4089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Virtual machine change history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CBD1B5-E4B1-4145-B2A9-9DBD13AA73F2}"/>
              </a:ext>
            </a:extLst>
          </p:cNvPr>
          <p:cNvCxnSpPr>
            <a:cxnSpLocks/>
          </p:cNvCxnSpPr>
          <p:nvPr/>
        </p:nvCxnSpPr>
        <p:spPr>
          <a:xfrm>
            <a:off x="685800" y="575273"/>
            <a:ext cx="0" cy="81915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677385-7638-4140-AD45-108DCDAAAD88}"/>
              </a:ext>
            </a:extLst>
          </p:cNvPr>
          <p:cNvSpPr txBox="1">
            <a:spLocks/>
          </p:cNvSpPr>
          <p:nvPr/>
        </p:nvSpPr>
        <p:spPr>
          <a:xfrm>
            <a:off x="5181600" y="1657350"/>
            <a:ext cx="3429000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Request details - summary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1F0901-A994-4564-8AA6-4494DE6ED86F}"/>
              </a:ext>
            </a:extLst>
          </p:cNvPr>
          <p:cNvCxnSpPr>
            <a:cxnSpLocks/>
          </p:cNvCxnSpPr>
          <p:nvPr/>
        </p:nvCxnSpPr>
        <p:spPr>
          <a:xfrm flipH="1">
            <a:off x="4153514" y="1861835"/>
            <a:ext cx="1104286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787BE19-AC88-4E80-8E70-FBCDECCE6FE2}"/>
              </a:ext>
            </a:extLst>
          </p:cNvPr>
          <p:cNvSpPr txBox="1">
            <a:spLocks/>
          </p:cNvSpPr>
          <p:nvPr/>
        </p:nvSpPr>
        <p:spPr>
          <a:xfrm>
            <a:off x="2743200" y="2571750"/>
            <a:ext cx="3429000" cy="408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History contains information about failed and success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335692-6012-46E2-B887-D2F035F75F23}"/>
              </a:ext>
            </a:extLst>
          </p:cNvPr>
          <p:cNvCxnSpPr>
            <a:cxnSpLocks/>
          </p:cNvCxnSpPr>
          <p:nvPr/>
        </p:nvCxnSpPr>
        <p:spPr>
          <a:xfrm flipH="1">
            <a:off x="1715114" y="2776235"/>
            <a:ext cx="1104286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619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779" y="1427724"/>
            <a:ext cx="4950000" cy="2288053"/>
          </a:xfrm>
        </p:spPr>
        <p:txBody>
          <a:bodyPr anchor="ctr"/>
          <a:lstStyle/>
          <a:p>
            <a:r>
              <a:rPr lang="en-US" b="0" dirty="0"/>
              <a:t>Thank you</a:t>
            </a:r>
            <a:br>
              <a:rPr lang="en-US" dirty="0"/>
            </a:br>
            <a:br>
              <a:rPr lang="en-US" sz="1400" dirty="0"/>
            </a:br>
            <a:br>
              <a:rPr lang="en-US" sz="1200" dirty="0"/>
            </a:br>
            <a:r>
              <a:rPr lang="en-US" sz="1200" b="0" dirty="0"/>
              <a:t>For more information please contact:</a:t>
            </a:r>
            <a:br>
              <a:rPr lang="en-US" sz="1200" b="0" dirty="0"/>
            </a:br>
            <a:r>
              <a:rPr lang="en-US" sz="1200" b="0" dirty="0"/>
              <a:t>T+ 33 1 98765432</a:t>
            </a:r>
            <a:br>
              <a:rPr lang="en-US" sz="1200" b="0" dirty="0"/>
            </a:br>
            <a:r>
              <a:rPr lang="en-US" sz="1200" b="0" dirty="0"/>
              <a:t>M+ 33 6 44445678</a:t>
            </a:r>
            <a:br>
              <a:rPr lang="en-US" sz="1200" b="0" dirty="0"/>
            </a:br>
            <a:r>
              <a:rPr lang="en-US" sz="1200" b="0" dirty="0"/>
              <a:t>firstname.lastname@atos.net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203467"/>
      </p:ext>
    </p:extLst>
  </p:cSld>
  <p:clrMapOvr>
    <a:masterClrMapping/>
  </p:clrMapOvr>
</p:sld>
</file>

<file path=ppt/theme/theme1.xml><?xml version="1.0" encoding="utf-8"?>
<a:theme xmlns:a="http://schemas.openxmlformats.org/drawingml/2006/main" name="Atos v4.0">
  <a:themeElements>
    <a:clrScheme name="Custom 1">
      <a:dk1>
        <a:sysClr val="windowText" lastClr="000000"/>
      </a:dk1>
      <a:lt1>
        <a:sysClr val="window" lastClr="FFFFFF"/>
      </a:lt1>
      <a:dk2>
        <a:srgbClr val="0066A1"/>
      </a:dk2>
      <a:lt2>
        <a:srgbClr val="FFFFFF"/>
      </a:lt2>
      <a:accent1>
        <a:srgbClr val="0066A1"/>
      </a:accent1>
      <a:accent2>
        <a:srgbClr val="0089C4"/>
      </a:accent2>
      <a:accent3>
        <a:srgbClr val="00AFD8"/>
      </a:accent3>
      <a:accent4>
        <a:srgbClr val="0066A1"/>
      </a:accent4>
      <a:accent5>
        <a:srgbClr val="0089C4"/>
      </a:accent5>
      <a:accent6>
        <a:srgbClr val="0066A1"/>
      </a:accent6>
      <a:hlink>
        <a:srgbClr val="0066A1"/>
      </a:hlink>
      <a:folHlink>
        <a:srgbClr val="00AFD8"/>
      </a:folHlink>
    </a:clrScheme>
    <a:fontScheme name="Atos Font PP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Atos Primary Color Atos Blue">
      <a:srgbClr val="0066A1"/>
    </a:custClr>
    <a:custClr name="Atos Primary Color White">
      <a:srgbClr val="FFFFFF"/>
    </a:custClr>
    <a:custClr name="Atos Primary Color Grey">
      <a:srgbClr val="808080"/>
    </a:custClr>
    <a:custClr name="Atos Primary Color Black">
      <a:srgbClr val="000000"/>
    </a:custClr>
    <a:custClr name="Atos Secondary Color Orange">
      <a:srgbClr val="FA6119"/>
    </a:custClr>
    <a:custClr name="Atos Secondary Color Yellow">
      <a:srgbClr val="9E9500"/>
    </a:custClr>
    <a:custClr name="Atos Secondary Color Dark purple">
      <a:srgbClr val="6639B7"/>
    </a:custClr>
    <a:custClr name="Atos Secondary Color Light purple">
      <a:srgbClr val="A626AA"/>
    </a:custClr>
    <a:custClr name="Atos Secondary Color Teal">
      <a:srgbClr val="00A59C"/>
    </a:custClr>
    <a:custClr name="Atos Complementary Color Green">
      <a:srgbClr val="3F9C35"/>
    </a:custClr>
    <a:custClr name="Atos Complementary Color Pink">
      <a:srgbClr val="D71F85"/>
    </a:custClr>
    <a:custClr name="Atos Complementary Color Dark grey">
      <a:srgbClr val="898D8D"/>
    </a:custClr>
    <a:custClr name="Atos Complementary Color Light blue">
      <a:srgbClr val="00AFD8"/>
    </a:custClr>
    <a:custClr name="Atos Complementary Color Blue">
      <a:srgbClr val="0089C4"/>
    </a:custClr>
  </a:custClrLst>
  <a:extLst>
    <a:ext uri="{05A4C25C-085E-4340-85A3-A5531E510DB2}">
      <thm15:themeFamily xmlns:thm15="http://schemas.microsoft.com/office/thememl/2012/main" name="Presentation5" id="{1C8FF2A3-AD79-480A-87CD-33E405469FBF}" vid="{6914A5C6-EBFC-4622-ACB0-3122FA4C6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Atos v4.0</Template>
  <TotalTime>323</TotalTime>
  <Words>651</Words>
  <Application>Microsoft Office PowerPoint</Application>
  <PresentationFormat>On-screen Show (16:9)</PresentationFormat>
  <Paragraphs>105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Lucida Sans Unicode</vt:lpstr>
      <vt:lpstr>Verdana</vt:lpstr>
      <vt:lpstr>Atos v4.0</vt:lpstr>
      <vt:lpstr>Deploy Virtual Machine</vt:lpstr>
      <vt:lpstr>PowerPoint Presentation</vt:lpstr>
      <vt:lpstr>Log in to VM Cloud Services</vt:lpstr>
      <vt:lpstr>PowerPoint Presentation</vt:lpstr>
      <vt:lpstr>PowerPoint Presentation</vt:lpstr>
      <vt:lpstr>Deploy machine using Service Broker</vt:lpstr>
      <vt:lpstr>PowerPoint Presentation</vt:lpstr>
      <vt:lpstr>Example view – the number of items depends on permissions and roles</vt:lpstr>
      <vt:lpstr>PowerPoint Presentation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In tab General you will provide necessary data which allow you to deploy machine.</vt:lpstr>
      <vt:lpstr>Deployment</vt:lpstr>
      <vt:lpstr>PowerPoint Presentation</vt:lpstr>
      <vt:lpstr>PowerPoint Presentation</vt:lpstr>
      <vt:lpstr>PowerPoint Presentation</vt:lpstr>
      <vt:lpstr>Thank you   For more information please contact: T+ 33 1 98765432 M+ 33 6 44445678 firstname.lastname@atos.net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Virtual Machine</dc:title>
  <dc:creator>A750269</dc:creator>
  <cp:lastModifiedBy>Pucek, Sebastian</cp:lastModifiedBy>
  <cp:revision>16</cp:revision>
  <dcterms:created xsi:type="dcterms:W3CDTF">2020-08-07T06:12:34Z</dcterms:created>
  <dcterms:modified xsi:type="dcterms:W3CDTF">2020-08-18T07:15:05Z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um">
    <vt:lpwstr>dd-mm-yyyy</vt:lpwstr>
  </property>
  <property fmtid="{D5CDD505-2E9C-101B-9397-08002B2CF9AE}" pid="3" name="Author">
    <vt:lpwstr/>
  </property>
  <property fmtid="{D5CDD505-2E9C-101B-9397-08002B2CF9AE}" pid="4" name="GBU">
    <vt:lpwstr/>
  </property>
  <property fmtid="{D5CDD505-2E9C-101B-9397-08002B2CF9AE}" pid="5" name="Division">
    <vt:lpwstr/>
  </property>
  <property fmtid="{D5CDD505-2E9C-101B-9397-08002B2CF9AE}" pid="6" name="Department">
    <vt:lpwstr/>
  </property>
  <property fmtid="{D5CDD505-2E9C-101B-9397-08002B2CF9AE}" pid="7" name="Classification">
    <vt:lpwstr>© Atos - For internal use</vt:lpwstr>
  </property>
  <property fmtid="{D5CDD505-2E9C-101B-9397-08002B2CF9AE}" pid="8" name="MSIP_Label_112e00b9-34e2-4b26-a577-af1fd0f9f7ee_Enabled">
    <vt:lpwstr>True</vt:lpwstr>
  </property>
  <property fmtid="{D5CDD505-2E9C-101B-9397-08002B2CF9AE}" pid="9" name="MSIP_Label_112e00b9-34e2-4b26-a577-af1fd0f9f7ee_SiteId">
    <vt:lpwstr>33440fc6-b7c7-412c-bb73-0e70b0198d5a</vt:lpwstr>
  </property>
  <property fmtid="{D5CDD505-2E9C-101B-9397-08002B2CF9AE}" pid="10" name="MSIP_Label_112e00b9-34e2-4b26-a577-af1fd0f9f7ee_Owner">
    <vt:lpwstr>sebastian.pucek@atos.net</vt:lpwstr>
  </property>
  <property fmtid="{D5CDD505-2E9C-101B-9397-08002B2CF9AE}" pid="11" name="MSIP_Label_112e00b9-34e2-4b26-a577-af1fd0f9f7ee_SetDate">
    <vt:lpwstr>2020-08-07T07:27:53.5234065Z</vt:lpwstr>
  </property>
  <property fmtid="{D5CDD505-2E9C-101B-9397-08002B2CF9AE}" pid="12" name="MSIP_Label_112e00b9-34e2-4b26-a577-af1fd0f9f7ee_Name">
    <vt:lpwstr>Atos For Internal Use</vt:lpwstr>
  </property>
  <property fmtid="{D5CDD505-2E9C-101B-9397-08002B2CF9AE}" pid="13" name="MSIP_Label_112e00b9-34e2-4b26-a577-af1fd0f9f7ee_Application">
    <vt:lpwstr>Microsoft Azure Information Protection</vt:lpwstr>
  </property>
  <property fmtid="{D5CDD505-2E9C-101B-9397-08002B2CF9AE}" pid="14" name="MSIP_Label_112e00b9-34e2-4b26-a577-af1fd0f9f7ee_ActionId">
    <vt:lpwstr>337c10d2-7735-47ff-b972-eaf17f8d608f</vt:lpwstr>
  </property>
  <property fmtid="{D5CDD505-2E9C-101B-9397-08002B2CF9AE}" pid="15" name="MSIP_Label_112e00b9-34e2-4b26-a577-af1fd0f9f7ee_Extended_MSFT_Method">
    <vt:lpwstr>Automatic</vt:lpwstr>
  </property>
  <property fmtid="{D5CDD505-2E9C-101B-9397-08002B2CF9AE}" pid="16" name="MSIP_Label_e463cba9-5f6c-478d-9329-7b2295e4e8ed_Enabled">
    <vt:lpwstr>True</vt:lpwstr>
  </property>
  <property fmtid="{D5CDD505-2E9C-101B-9397-08002B2CF9AE}" pid="17" name="MSIP_Label_e463cba9-5f6c-478d-9329-7b2295e4e8ed_SiteId">
    <vt:lpwstr>33440fc6-b7c7-412c-bb73-0e70b0198d5a</vt:lpwstr>
  </property>
  <property fmtid="{D5CDD505-2E9C-101B-9397-08002B2CF9AE}" pid="18" name="MSIP_Label_e463cba9-5f6c-478d-9329-7b2295e4e8ed_Owner">
    <vt:lpwstr>sebastian.pucek@atos.net</vt:lpwstr>
  </property>
  <property fmtid="{D5CDD505-2E9C-101B-9397-08002B2CF9AE}" pid="19" name="MSIP_Label_e463cba9-5f6c-478d-9329-7b2295e4e8ed_SetDate">
    <vt:lpwstr>2020-08-07T07:27:53.5243166Z</vt:lpwstr>
  </property>
  <property fmtid="{D5CDD505-2E9C-101B-9397-08002B2CF9AE}" pid="20" name="MSIP_Label_e463cba9-5f6c-478d-9329-7b2295e4e8ed_Name">
    <vt:lpwstr>Atos For Internal Use - All Employees</vt:lpwstr>
  </property>
  <property fmtid="{D5CDD505-2E9C-101B-9397-08002B2CF9AE}" pid="21" name="MSIP_Label_e463cba9-5f6c-478d-9329-7b2295e4e8ed_Application">
    <vt:lpwstr>Microsoft Azure Information Protection</vt:lpwstr>
  </property>
  <property fmtid="{D5CDD505-2E9C-101B-9397-08002B2CF9AE}" pid="22" name="MSIP_Label_e463cba9-5f6c-478d-9329-7b2295e4e8ed_ActionId">
    <vt:lpwstr>337c10d2-7735-47ff-b972-eaf17f8d608f</vt:lpwstr>
  </property>
  <property fmtid="{D5CDD505-2E9C-101B-9397-08002B2CF9AE}" pid="23" name="MSIP_Label_e463cba9-5f6c-478d-9329-7b2295e4e8ed_Parent">
    <vt:lpwstr>112e00b9-34e2-4b26-a577-af1fd0f9f7ee</vt:lpwstr>
  </property>
  <property fmtid="{D5CDD505-2E9C-101B-9397-08002B2CF9AE}" pid="24" name="MSIP_Label_e463cba9-5f6c-478d-9329-7b2295e4e8ed_Extended_MSFT_Method">
    <vt:lpwstr>Automatic</vt:lpwstr>
  </property>
  <property fmtid="{D5CDD505-2E9C-101B-9397-08002B2CF9AE}" pid="25" name="Sensitivity">
    <vt:lpwstr>Atos For Internal Use Atos For Internal Use - All Employees</vt:lpwstr>
  </property>
</Properties>
</file>